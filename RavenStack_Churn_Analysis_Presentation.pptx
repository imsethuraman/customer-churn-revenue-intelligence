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7" r:id="rId9"/>
    <p:sldId id="271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8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7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0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03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4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1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2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8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2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33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2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46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90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82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50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67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8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4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750888" cy="90170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Customer Retention &amp; Engagement </a:t>
            </a:r>
            <a:br>
              <a:rPr lang="en-IN" dirty="0"/>
            </a:br>
            <a:r>
              <a:rPr lang="en-IN" dirty="0"/>
              <a:t>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450059" cy="3530600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Raven</a:t>
            </a:r>
            <a:r>
              <a:rPr lang="en-IN" dirty="0"/>
              <a:t> </a:t>
            </a:r>
            <a:r>
              <a:rPr dirty="0"/>
              <a:t>Stack SaaS</a:t>
            </a: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Tech Stack: MySQL, Power BI</a:t>
            </a:r>
          </a:p>
          <a:p>
            <a:pPr marL="0" indent="0" algn="ctr">
              <a:buNone/>
            </a:pPr>
            <a:endParaRPr lang="en-IN" dirty="0"/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churn (~70%)</a:t>
            </a:r>
          </a:p>
          <a:p>
            <a:r>
              <a:rPr dirty="0"/>
              <a:t>Low activity drives churn</a:t>
            </a:r>
          </a:p>
          <a:p>
            <a:r>
              <a:rPr dirty="0"/>
              <a:t>Support issues increase churn</a:t>
            </a:r>
            <a:endParaRPr lang="en-IN" dirty="0"/>
          </a:p>
          <a:p>
            <a:r>
              <a:rPr lang="en-GB" dirty="0"/>
              <a:t>Churn occurs within first 90 days</a:t>
            </a:r>
            <a:endParaRPr dirty="0"/>
          </a:p>
          <a:p>
            <a:r>
              <a:rPr dirty="0"/>
              <a:t>High MRR customers retain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188" y="2318992"/>
            <a:ext cx="8229600" cy="39781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Business Problem</a:t>
            </a:r>
          </a:p>
          <a:p>
            <a:r>
              <a:rPr dirty="0"/>
              <a:t>High churn impacting revenue</a:t>
            </a:r>
            <a:endParaRPr lang="en-IN" dirty="0"/>
          </a:p>
          <a:p>
            <a:r>
              <a:rPr lang="en-GB" dirty="0"/>
              <a:t>Lack of visibility into customer behaviour</a:t>
            </a:r>
            <a:endParaRPr dirty="0"/>
          </a:p>
          <a:p>
            <a:r>
              <a:rPr dirty="0"/>
              <a:t>Need data-driven retention strategy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Dataset Overview</a:t>
            </a:r>
          </a:p>
          <a:p>
            <a:r>
              <a:rPr lang="en-GB" dirty="0"/>
              <a:t>Accounts, Subscriptions, Feature Usage,</a:t>
            </a:r>
          </a:p>
          <a:p>
            <a:r>
              <a:rPr lang="en-GB" dirty="0"/>
              <a:t>Support Tickets, Churn Events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Methodology</a:t>
            </a:r>
          </a:p>
          <a:p>
            <a:pPr marL="0" indent="0">
              <a:buNone/>
            </a:pPr>
            <a:r>
              <a:rPr lang="en-GB" dirty="0"/>
              <a:t>SQL EDA → </a:t>
            </a:r>
            <a:r>
              <a:rPr lang="en-IN" dirty="0"/>
              <a:t>SQL joins &amp; CTEs</a:t>
            </a:r>
            <a:r>
              <a:rPr lang="en-GB" dirty="0"/>
              <a:t> </a:t>
            </a:r>
            <a:r>
              <a:rPr lang="en-IN" dirty="0"/>
              <a:t>→ </a:t>
            </a:r>
            <a:r>
              <a:rPr lang="en-GB" dirty="0"/>
              <a:t>Data Modelling → Power BI →</a:t>
            </a:r>
            <a:r>
              <a:rPr lang="en-IN" dirty="0"/>
              <a:t> Insight Generation</a:t>
            </a:r>
            <a:endParaRPr lang="en-GB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766" y="2384980"/>
            <a:ext cx="3634033" cy="3914317"/>
          </a:xfrm>
        </p:spPr>
        <p:txBody>
          <a:bodyPr/>
          <a:lstStyle/>
          <a:p>
            <a:r>
              <a:rPr dirty="0"/>
              <a:t>Higher churn in </a:t>
            </a:r>
            <a:r>
              <a:rPr lang="en-IN" dirty="0"/>
              <a:t>Pro</a:t>
            </a:r>
            <a:r>
              <a:rPr dirty="0"/>
              <a:t>-tier plans</a:t>
            </a:r>
            <a:endParaRPr lang="en-IN" dirty="0"/>
          </a:p>
          <a:p>
            <a:r>
              <a:rPr lang="en-GB" dirty="0"/>
              <a:t>Low activity users churn most</a:t>
            </a:r>
          </a:p>
          <a:p>
            <a:r>
              <a:rPr lang="en-GB" dirty="0"/>
              <a:t>High activity → strong retention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98BC1-B602-41FD-AE64-4C83429ED9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1" t="18706" r="38247" b="6701"/>
          <a:stretch/>
        </p:blipFill>
        <p:spPr>
          <a:xfrm>
            <a:off x="329938" y="2288358"/>
            <a:ext cx="4579111" cy="4010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619" y="712903"/>
            <a:ext cx="8229600" cy="1143000"/>
          </a:xfrm>
        </p:spPr>
        <p:txBody>
          <a:bodyPr/>
          <a:lstStyle/>
          <a:p>
            <a:r>
              <a:rPr dirty="0"/>
              <a:t>Customer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536" y="2601798"/>
            <a:ext cx="3926264" cy="3524365"/>
          </a:xfrm>
        </p:spPr>
        <p:txBody>
          <a:bodyPr>
            <a:normAutofit/>
          </a:bodyPr>
          <a:lstStyle/>
          <a:p>
            <a:r>
              <a:rPr dirty="0"/>
              <a:t>Major churn in first 90 days</a:t>
            </a:r>
            <a:r>
              <a:rPr lang="en-IN" dirty="0"/>
              <a:t>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Most churn happens in early stage.</a:t>
            </a:r>
            <a:endParaRPr lang="en-IN" dirty="0"/>
          </a:p>
          <a:p>
            <a:r>
              <a:rPr lang="en-US" altLang="en-US" dirty="0">
                <a:latin typeface="Arial" panose="020B0604020202020204" pitchFamily="34" charset="0"/>
              </a:rPr>
              <a:t>Onboarding is critical </a:t>
            </a:r>
          </a:p>
          <a:p>
            <a:endParaRPr lang="en-IN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C22D3-D4CA-4CCF-B612-3259CFAA8D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4" t="19988" r="38247" b="7617"/>
          <a:stretch/>
        </p:blipFill>
        <p:spPr>
          <a:xfrm>
            <a:off x="386619" y="2698422"/>
            <a:ext cx="4185381" cy="2875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Support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4742" y="2554664"/>
            <a:ext cx="3502057" cy="3571499"/>
          </a:xfrm>
        </p:spPr>
        <p:txBody>
          <a:bodyPr/>
          <a:lstStyle/>
          <a:p>
            <a:r>
              <a:rPr dirty="0"/>
              <a:t>More tickets → higher churn</a:t>
            </a:r>
            <a:endParaRPr lang="en-IN" dirty="0"/>
          </a:p>
          <a:p>
            <a:r>
              <a:rPr lang="en-IN" dirty="0"/>
              <a:t>More tickets = dissatisfaction</a:t>
            </a:r>
          </a:p>
          <a:p>
            <a:r>
              <a:rPr lang="en-IN" dirty="0"/>
              <a:t>Strong churn predictor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58C64-A5A5-4FC6-99F7-871F8EF872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22" r="37835" b="7434"/>
          <a:stretch/>
        </p:blipFill>
        <p:spPr>
          <a:xfrm>
            <a:off x="273377" y="2554664"/>
            <a:ext cx="4647415" cy="3571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8243" y="2507529"/>
            <a:ext cx="4251489" cy="3618634"/>
          </a:xfrm>
        </p:spPr>
        <p:txBody>
          <a:bodyPr/>
          <a:lstStyle/>
          <a:p>
            <a:r>
              <a:rPr dirty="0"/>
              <a:t>Revenue concentrated in high-value customers</a:t>
            </a:r>
            <a:endParaRPr lang="en-IN" dirty="0"/>
          </a:p>
          <a:p>
            <a:r>
              <a:rPr lang="en-IN" dirty="0"/>
              <a:t>Low-value users churn more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0F859-16AC-4598-AD81-FB6C1E7313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22" r="37629" b="7434"/>
          <a:stretch/>
        </p:blipFill>
        <p:spPr>
          <a:xfrm>
            <a:off x="254523" y="2507529"/>
            <a:ext cx="4543720" cy="37518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041" y="2096022"/>
            <a:ext cx="8229600" cy="45864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Power BI dashboard with KPIs, filters,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AB46C-D42F-4DCA-BD13-3B539D4232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4" t="22922" r="37217" b="7983"/>
          <a:stretch/>
        </p:blipFill>
        <p:spPr>
          <a:xfrm>
            <a:off x="457201" y="2554664"/>
            <a:ext cx="8229599" cy="39358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7193948" cy="709865"/>
          </a:xfrm>
        </p:spPr>
        <p:txBody>
          <a:bodyPr/>
          <a:lstStyle/>
          <a:p>
            <a:r>
              <a:rPr dirty="0"/>
              <a:t>Da</a:t>
            </a:r>
            <a:r>
              <a:rPr lang="en-IN" dirty="0"/>
              <a:t>ta </a:t>
            </a:r>
            <a:r>
              <a:rPr dirty="0"/>
              <a:t>Overview</a:t>
            </a:r>
            <a:r>
              <a:rPr lang="en-IN" dirty="0"/>
              <a:t> &amp; Data Modelling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DF3A3-3905-4276-A392-E74CB414C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63" t="18951" r="54467" b="6967"/>
          <a:stretch/>
        </p:blipFill>
        <p:spPr>
          <a:xfrm>
            <a:off x="457200" y="2322612"/>
            <a:ext cx="3667027" cy="4210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FB5549-EEF3-405A-AF0E-B1D8F56AB9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1" t="20345" r="-412" b="6701"/>
          <a:stretch/>
        </p:blipFill>
        <p:spPr>
          <a:xfrm>
            <a:off x="4529579" y="2322612"/>
            <a:ext cx="4157221" cy="42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6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75555"/>
            <a:ext cx="8229600" cy="3575116"/>
          </a:xfrm>
        </p:spPr>
        <p:txBody>
          <a:bodyPr/>
          <a:lstStyle/>
          <a:p>
            <a:r>
              <a:rPr dirty="0"/>
              <a:t>Engagement, support, lifecycle drive churn</a:t>
            </a:r>
            <a:endParaRPr lang="en-IN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Engagement drives retention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Support impacts churn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High-value customers are critical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Early churn is the biggest issue 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onboarding, engagement, support</a:t>
            </a:r>
            <a:endParaRPr lang="en-IN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Improve onboarding flow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Drive feature adoption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Enhance support response time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Target at-risk users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Reduce churn 15–25%, increase retention</a:t>
            </a:r>
            <a:endParaRPr lang="en-IN" dirty="0"/>
          </a:p>
          <a:p>
            <a:r>
              <a:rPr lang="en-GB" dirty="0"/>
              <a:t>Increase customer lifetime value </a:t>
            </a:r>
          </a:p>
          <a:p>
            <a:r>
              <a:rPr lang="en-GB" dirty="0"/>
              <a:t>Improve customer satisfaction </a:t>
            </a:r>
          </a:p>
          <a:p>
            <a:r>
              <a:rPr lang="en-GB" dirty="0"/>
              <a:t>Boost revenue retention 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61</TotalTime>
  <Words>233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Customer Retention &amp; Engagement  Insights</vt:lpstr>
      <vt:lpstr>Executive Summary</vt:lpstr>
      <vt:lpstr>PowerPoint Presentation</vt:lpstr>
      <vt:lpstr>Churn Analysis</vt:lpstr>
      <vt:lpstr>Customer Lifecycle</vt:lpstr>
      <vt:lpstr>Support Impact</vt:lpstr>
      <vt:lpstr>Revenue Analysis</vt:lpstr>
      <vt:lpstr>Dashboard Overview</vt:lpstr>
      <vt:lpstr>Data Overview &amp; Data Modelling</vt:lpstr>
      <vt:lpstr>Key Insights</vt:lpstr>
      <vt:lpstr>Recommendations</vt:lpstr>
      <vt:lpstr>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 Retention &amp; Engagement  Insights</dc:title>
  <dc:subject/>
  <dc:creator/>
  <cp:keywords/>
  <dc:description>generated using python-pptx</dc:description>
  <cp:lastModifiedBy>Sethuraman B</cp:lastModifiedBy>
  <cp:revision>7</cp:revision>
  <dcterms:created xsi:type="dcterms:W3CDTF">2013-01-27T09:14:16Z</dcterms:created>
  <dcterms:modified xsi:type="dcterms:W3CDTF">2026-04-21T14:08:29Z</dcterms:modified>
  <cp:category/>
</cp:coreProperties>
</file>